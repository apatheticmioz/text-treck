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cb1c05b9-4e47-4831-997b-58afde9194dc.fntdata" /><ns0:Relationship Id="rIdFont16" Type="http://schemas.openxmlformats.org/officeDocument/2006/relationships/font" Target="fonts/ed6ed81a-95d9-45c4-8aea-89526528b0b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504283"/>
            <a:ext cx="10668000" cy="647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504283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06016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163216"/>
            <a:ext cx="910113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E-Sahulat: Sovereign Multilingual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36602"/>
            <a:ext cx="72390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A7F3D0"/>
                </a:solidFill>
                <a:latin typeface="Plus Jakarta Sans"/>
              </a:rPr>
              <a:t>Zero-trust public service delivery for Pakistani passport inquiries in Urdu, Roman Urdu, and English.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" y="1720304"/>
            <a:ext cx="207559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4D399"/>
                </a:solidFill>
                <a:latin typeface="Plus Jakarta Sans"/>
              </a:rPr>
              <a:t>DGI&amp;P AI INITIATIVE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42408"/>
            <a:ext cx="247650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Accuracy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</a:t>
            </a:r>
            <a:r>
              <a:rPr b="1" sz="1500" i="0" u="none">
                <a:solidFill>
                  <a:srgbClr val="FFFFFF"/>
                </a:solidFill>
                <a:latin typeface="Plus Jakarta Sans"/>
              </a:rPr>
              <a:t>100% (36/36 Benchmark)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050" y="4742408"/>
            <a:ext cx="176212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Footprint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</a:t>
            </a:r>
            <a:r>
              <a:rPr b="1" sz="1500" i="0" u="none">
                <a:solidFill>
                  <a:srgbClr val="FFFFFF"/>
                </a:solidFill>
                <a:latin typeface="Plus Jakarta Sans"/>
              </a:rPr>
              <a:t>3.27 GB (Edge T4)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9725" y="4742408"/>
            <a:ext cx="2143125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Plus Jakarta Sans"/>
              </a:rPr>
              <a:t>API Reliance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</a:t>
            </a:r>
            <a:r>
              <a:rPr b="1" sz="1500" i="0" u="none">
                <a:solidFill>
                  <a:srgbClr val="FFFFFF"/>
                </a:solidFill>
                <a:latin typeface="Plus Jakarta Sans"/>
              </a:rPr>
              <a:t>Zero Commercial Calls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43237"/>
            <a:ext cx="3454449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43237"/>
            <a:ext cx="3454449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043237"/>
            <a:ext cx="3454449" cy="1781175"/>
          </a:xfrm>
          <a:prstGeom prst="roundRect">
            <a:avLst>
              <a:gd name="adj" fmla="val 64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043237"/>
            <a:ext cx="38100" cy="17811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68849" y="3043237"/>
            <a:ext cx="38100" cy="17811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899" y="3043237"/>
            <a:ext cx="38100" cy="17811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3348037"/>
            <a:ext cx="33337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749" y="3348037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99" y="3348037"/>
            <a:ext cx="33337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33400"/>
            <a:ext cx="10915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The Digital Exclusion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" y="3767137"/>
            <a:ext cx="368385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Script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081462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Portals use formal Urdu or English; citizens use Roman Urdu.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1749" y="3767137"/>
            <a:ext cx="368385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Retrieval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1749" y="4081462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BM25 misses informal slang and phonetic variations.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799" y="3767137"/>
            <a:ext cx="368385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Hallucination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799" y="4081462"/>
            <a:ext cx="29019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Generic LLMs fabricate official passport fees and timelines.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90862"/>
            <a:ext cx="25908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29000" y="3090862"/>
            <a:ext cx="25908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090862"/>
            <a:ext cx="25908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15400" y="3090862"/>
            <a:ext cx="25908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33194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33194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33194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0" y="3319462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3400"/>
            <a:ext cx="10915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4-Stage Autonomous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3194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14762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0037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Phonetic mapping and diacritic stripping.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4725" y="33194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814762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Hybrid W-RRF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10037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BM25 combined with dense BGE-M3.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7925" y="33194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814762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Semantic Router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0037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Entropy filters and safety guardrails.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1125" y="3319462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814762"/>
            <a:ext cx="28003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Grounded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10037"/>
            <a:ext cx="2228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4-bit quantized synthesis with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2847975"/>
          <a:ext cx="10820397" cy="2133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17267"/>
                <a:gridCol w="2078384"/>
                <a:gridCol w="2379761"/>
                <a:gridCol w="2744985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Top-1 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Cross-Lingual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Typo Robustness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BM25 Keyword Only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85.7%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Limited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Dense Only (BGE-M3)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95.2%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Hybrid W-RRF + Router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100.0%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Full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65F46"/>
                          </a:solidFill>
                          <a:latin typeface="Plus Jakarta Sans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533400"/>
            <a:ext cx="10915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Ablation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Retrieval Precision Breakdown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976562"/>
            <a:ext cx="5257800" cy="1914525"/>
          </a:xfrm>
          <a:prstGeom prst="roundRect">
            <a:avLst>
              <a:gd name="adj" fmla="val 5970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976562"/>
            <a:ext cx="5257800" cy="1914525"/>
          </a:xfrm>
          <a:prstGeom prst="roundRect">
            <a:avLst>
              <a:gd name="adj" fmla="val 597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0915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Security &amp;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Deterministic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3281362"/>
            <a:ext cx="61007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lus Jakarta Sans"/>
              </a:rPr>
              <a:t>Blocked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281362"/>
            <a:ext cx="56388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6534"/>
                </a:solidFill>
                <a:latin typeface="Plus Jakarta Sans"/>
              </a:rPr>
              <a:t>Routed Fallbacks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3700462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Prompt Injections: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Rule overrides blocked.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033837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Noise Spam: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Entropy filters trigger.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4367212"/>
            <a:ext cx="5810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F1D1D"/>
                </a:solidFill>
                <a:latin typeface="Plus Jakarta Sans"/>
              </a:rPr>
              <a:t>Out of Domain:</a:t>
            </a:r>
            <a:r>
              <a:rPr b="0" sz="1350" i="0" u="none">
                <a:solidFill>
                  <a:srgbClr val="7F1D1D"/>
                </a:solidFill>
                <a:latin typeface="Plus Jakarta Sans"/>
              </a:rPr>
              <a:t> Chit-chat rejected.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700462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Vague Fee Queries: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Clarifications requested.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4033837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Personal Tracking: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Official portal referral.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367212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4532D"/>
                </a:solidFill>
                <a:latin typeface="Plus Jakarta Sans"/>
              </a:rPr>
              <a:t>Conflicting Info:</a:t>
            </a:r>
            <a:r>
              <a:rPr b="0" sz="1350" i="0" u="none">
                <a:solidFill>
                  <a:srgbClr val="14532D"/>
                </a:solidFill>
                <a:latin typeface="Plus Jakarta Sans"/>
              </a:rPr>
              <a:t> Authoritative source cited.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0915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Benchmark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Official 12-Category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8175" y="2947987"/>
            <a:ext cx="4119562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059669"/>
                </a:solidFill>
                <a:latin typeface="Plus Jakarta Sans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10112" y="4243387"/>
            <a:ext cx="34647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34155"/>
                </a:solidFill>
                <a:latin typeface="Plus Jakarta Sans"/>
              </a:rPr>
              <a:t>36 / 36 Test Inquiries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987" y="4586287"/>
            <a:ext cx="69175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Mean End-to-End Latency: 2.54 seconds | Guardrail Latency: 42.3 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290887"/>
            <a:ext cx="345444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290887"/>
            <a:ext cx="345444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290887"/>
            <a:ext cx="3454449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33400"/>
            <a:ext cx="1091565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59669"/>
                </a:solidFill>
                <a:latin typeface="Plus Jakarta Sans"/>
              </a:rPr>
              <a:t>Civic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790575"/>
            <a:ext cx="11506200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Deployment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557587"/>
            <a:ext cx="383387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Mobile Accessibility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871912"/>
            <a:ext cx="30162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Direct access for 120M+ citizens typing in Roman script.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549" y="3557587"/>
            <a:ext cx="383387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Queue Reduction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549" y="3871912"/>
            <a:ext cx="301629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Deflects 40% of repetitive in-person counter visits.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8599" y="3557587"/>
            <a:ext cx="383387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Hardware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8599" y="3871912"/>
            <a:ext cx="36513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Runs on a single standard T4 GPU.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28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62512" y="4176712"/>
            <a:ext cx="2466975" cy="466725"/>
          </a:xfrm>
          <a:prstGeom prst="roundRect">
            <a:avLst>
              <a:gd name="adj" fmla="val 16326"/>
            </a:avLst>
          </a:prstGeom>
          <a:solidFill>
            <a:srgbClr val="1F3E2E"/>
          </a:solidFill>
          <a:ln w="9525">
            <a:solidFill>
              <a:srgbClr val="385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64881" y="2214562"/>
            <a:ext cx="146223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4D399"/>
                </a:solidFill>
                <a:latin typeface="Plus Jakarta San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4171" y="2528887"/>
            <a:ext cx="926365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Sovereign AI for Public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300412"/>
            <a:ext cx="7739062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A7F3D0"/>
                </a:solidFill>
                <a:latin typeface="Plus Jakarta Sans"/>
              </a:rPr>
              <a:t>Verified provenance, zero hallucinations, and full inclusion for vernacular speakers.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2740" y="4291012"/>
            <a:ext cx="2626518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FFFFF"/>
                </a:solidFill>
                <a:latin typeface="Plus Jakarta Sans"/>
              </a:rPr>
              <a:t> https://dgip.gov.pk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